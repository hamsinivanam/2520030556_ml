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C00000"/>
                </a:solidFill>
                <a:latin typeface="Calibri"/>
                <a:cs typeface="Calibri"/>
              </a:rPr>
              <a:t>Sales Forecasting Using Gradient-Boosted Trees with Grid-Search Hyperparameter Tuning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6000" y="3513524"/>
            <a:ext cx="7200000" cy="1900000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Calibri"/>
                <a:cs typeface="Calibri"/>
              </a:rPr>
              <a:t>Team Members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rgbClr val="0070C0"/>
                </a:solidFill>
                <a:latin typeface="Calibri"/>
                <a:cs typeface="Calibri"/>
              </a:rPr>
              <a:t>Name: Hamsini Vanam   Roll No.: 2520030556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lang="en-US" sz="1700" dirty="0">
                <a:solidFill>
                  <a:srgbClr val="0070C0"/>
                </a:solidFill>
                <a:latin typeface="Calibri"/>
                <a:cs typeface="Calibri"/>
              </a:rPr>
              <a:t>Name: Varshini Bolla   Roll No.: 25200030431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Calibri"/>
                <a:cs typeface="Calibri"/>
              </a:rPr>
              <a:t>Under the Esteemed Guidance of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rgbClr val="0070C0"/>
                </a:solidFill>
                <a:latin typeface="Calibri"/>
                <a:cs typeface="Calibri"/>
              </a:rPr>
              <a:t>Faculty Name, Designation &amp;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300">
                <a:latin typeface="Calibri"/>
              </a:defRPr>
            </a:pPr>
            <a:r>
              <a:t>Abstract</a:t>
            </a:r>
          </a:p>
          <a:p>
            <a:pPr>
              <a:spcAft>
                <a:spcPts val="900"/>
              </a:spcAft>
              <a:defRPr sz="2300">
                <a:latin typeface="Calibri"/>
              </a:defRPr>
            </a:pPr>
            <a:r>
              <a:t>Introduction</a:t>
            </a:r>
          </a:p>
          <a:p>
            <a:pPr>
              <a:spcAft>
                <a:spcPts val="900"/>
              </a:spcAft>
              <a:defRPr sz="2300">
                <a:latin typeface="Calibri"/>
              </a:defRPr>
            </a:pPr>
            <a:r>
              <a:t>Literature Survey</a:t>
            </a:r>
          </a:p>
          <a:p>
            <a:pPr>
              <a:spcAft>
                <a:spcPts val="900"/>
              </a:spcAft>
              <a:defRPr sz="2300">
                <a:latin typeface="Calibri"/>
              </a:defRPr>
            </a:pPr>
            <a:r>
              <a:t>Problem Statement and Objectives</a:t>
            </a:r>
          </a:p>
          <a:p>
            <a:pPr>
              <a:spcAft>
                <a:spcPts val="900"/>
              </a:spcAft>
              <a:defRPr sz="2300">
                <a:latin typeface="Calibri"/>
              </a:defRPr>
            </a:pPr>
            <a:r>
              <a:t>Flow Chart</a:t>
            </a:r>
          </a:p>
          <a:p>
            <a:pPr>
              <a:spcAft>
                <a:spcPts val="900"/>
              </a:spcAft>
              <a:defRPr sz="2300">
                <a:latin typeface="Calibri"/>
              </a:defRPr>
            </a:pPr>
            <a:r>
              <a:t>Results</a:t>
            </a:r>
          </a:p>
          <a:p>
            <a:pPr>
              <a:spcAft>
                <a:spcPts val="900"/>
              </a:spcAft>
              <a:defRPr sz="2300">
                <a:latin typeface="Calibri"/>
              </a:defRPr>
            </a:pPr>
            <a:r>
              <a:t>Hardware and Software Requirements</a:t>
            </a:r>
          </a:p>
          <a:p>
            <a:pPr>
              <a:spcAft>
                <a:spcPts val="900"/>
              </a:spcAft>
              <a:defRPr sz="2300">
                <a:latin typeface="Calibri"/>
              </a:defRPr>
            </a:pPr>
            <a:r>
              <a:t>Conclusion</a:t>
            </a:r>
          </a:p>
          <a:p>
            <a:pPr>
              <a:spcAft>
                <a:spcPts val="900"/>
              </a:spcAft>
              <a:defRPr sz="2300">
                <a:latin typeface="Calibri"/>
              </a:defRPr>
            </a:pPr>
            <a:r>
              <a:t>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1234440"/>
            <a:ext cx="9144000" cy="5166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Sales forecasting helps businesses estimate future demand and plan inventory, staffing, purchasing, and promotions.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This project develops a machine-learning forecasting system using Gradient-Boosted Trees.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Historical sales data is transformed into predictive features such as previous-period sales, rolling averages, seasonality indicators, and calendar information.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Grid Search with cross-validation is used to select suitable hyperparameters and improve model performance.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The final model is evaluated using MAE, RMSE, and R² and compared with a simple baseline model.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The goal is to produce accurate, data-driven sales predictions that can support business planning.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1234440"/>
            <a:ext cx="9144000" cy="5166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Sales data often contains trends, seasonality, promotions, holidays, and irregular demand patterns.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Traditional forecasting methods may not capture complex relationships between multiple business variables.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Gradient-Boosted Trees build an ensemble of decision trees sequentially, with each new tree reducing previous prediction errors.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The model can handle nonlinear relationships and interactions among sales-related features.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Grid Search systematically tests combinations of parameters such as number of trees, learning rate, maximum depth, and minimum samples per leaf.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A time-aware train/test split is used so that future information does not leak into model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1234440"/>
            <a:ext cx="9144000" cy="5166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Decision-tree ensembles are widely used for structured/tabular prediction because they can model nonlinear relationships.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Gradient Boosting combines many weak decision trees to create a stronger predictive model.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XGBoost, LightGBM, and scikit-learn GradientBoostingRegressor are commonly used boosting approaches for regression tasks.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Research and practical forecasting systems show that feature engineering—especially lag and rolling-window features—is important when tree-based models are applied to time-series data.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Hyperparameter tuning can improve generalization by balancing model complexity and learning speed.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This project combines feature engineering, Gradient-Boosted Trees, and Grid Search into one sales-forecasting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1234440"/>
            <a:ext cx="9144000" cy="5166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Build a machine-learning model that predicts future sales from historical sales and related business features while minimizing forecasting error.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Objectives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Clean and preprocess historical sales data.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Create useful time-series features such as lag sales, rolling mean, month, weekday, and promotion indicators.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Train a Gradient-Boosted Trees regression model.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Use Grid Search with cross-validation to tune important hyperparameters.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Evaluate predictions using MAE, RMSE, and R².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Compare the tuned model with a simple baseline and identify the most influential features.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234440"/>
            <a:ext cx="201168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Historical Sales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234440"/>
            <a:ext cx="201168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Cleaning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&amp; 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234440"/>
            <a:ext cx="256032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Lag / Rolling / Calendar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423160"/>
            <a:ext cx="201168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Time-Based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Train/Test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423160"/>
            <a:ext cx="219456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Gradient-Boosted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Trees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611880"/>
            <a:ext cx="219456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Grid Search +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Cross-Validation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3611880"/>
            <a:ext cx="201168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Best Hyperparameters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&amp; Retraining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800600"/>
            <a:ext cx="201168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Evaluate: MAE,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RMSE,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800600"/>
            <a:ext cx="219456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Sales Forecast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&amp; Insights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1536192"/>
            <a:ext cx="365760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1536192"/>
            <a:ext cx="365760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943600" y="1828800"/>
            <a:ext cx="2651760" cy="59436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2724912"/>
            <a:ext cx="365760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12480" y="3017520"/>
            <a:ext cx="0" cy="59436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949440" y="3913632"/>
            <a:ext cx="365760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43600" y="4206240"/>
            <a:ext cx="0" cy="59436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49440" y="5102352"/>
            <a:ext cx="365760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40280" y="1234440"/>
            <a:ext cx="9144000" cy="5166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Evaluation Plan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Metrics: Mean Absolute Error (MAE), Root Mean Squared Error (RMSE), and R².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Baseline: compare the tuned model against a simple historical-average or last-period-sales baseline.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Grid Search: report the selected values for n_estimators, learning_rate, max_depth, min_samples_split, and min_samples_leaf.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Visualizations: actual vs. predicted sales, residual/error plot, and feature-importance chart.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Expected observation: the tuned model should be selected based on validation performance, while the final test-set metrics should be reported only after the model is executed.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Final Results Table (fill after implementation)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Baseline MAE: ______   | Tuned Model MAE: ______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Baseline RMSE: ______  | Tuned Model RMSE: ______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Baseline R²: ______     | Tuned Model R²: ______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Best parameters: 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40280" y="1234440"/>
            <a:ext cx="9144000" cy="5166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Hardware Requirements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Laptop/Desktop computer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Minimum 4 GB RAM; 8 GB or more recommended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Dual-core processor or better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Approximately 5–10 GB free storage for software, datasets, and outputs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Internet connection for installing packages or accessing datasets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Software Requirements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Python 3.x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Jupyter Notebook / VS Code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pandas and NumPy — data handling and numerical operations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scikit-learn — Gradient Boosting, Grid Search, cross-validation, and metrics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Matplotlib / Seaborn — visualization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Excel or CSV — sales-data storage and inspection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Optional: XGBoost or LightGBM for extended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1234440"/>
            <a:ext cx="9144000" cy="5166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The project applies Gradient-Boosted Trees to the problem of sales forecasting.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Historical sales are converted into predictive features that allow a tree-based model to learn trends and recurring patterns.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Grid Search provides a systematic way to tune model hyperparameters rather than relying on manual selection.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Time-aware validation helps reduce the risk of using future information during training.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MAE, RMSE, and R² provide complementary views of forecasting performance.</a:t>
            </a:r>
          </a:p>
          <a:p>
            <a:pPr>
              <a:spcAft>
                <a:spcPts val="800"/>
              </a:spcAft>
              <a:defRPr sz="1800">
                <a:solidFill>
                  <a:schemeClr val="tx1"/>
                </a:solidFill>
                <a:latin typeface="Calibri"/>
              </a:defRPr>
            </a:pPr>
            <a:r>
              <a:t>• The completed system can generate forecasts that support inventory planning, demand estimation, and business decision-making.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234440"/>
            <a:ext cx="9144000" cy="5166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Add external variables such as holidays, weather, pricing, discounts, advertising spend, and regional events.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Compare Gradient-Boosted Trees with XGBoost, LightGBM, Random Forest, and dedicated time-series models.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Use rolling/expanding-window validation for more robust time-series model selection.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Build an automated pipeline that retrains the model as new sales data arrives.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Create a Power BI or web dashboard for interactive forecasts and business KPIs.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Add prediction intervals or probabilistic forecasting to communicate uncertainty.</a:t>
            </a:r>
          </a:p>
          <a:p>
            <a:pPr>
              <a:spcAft>
                <a:spcPts val="800"/>
              </a:spcAft>
              <a:defRPr sz="1700">
                <a:solidFill>
                  <a:schemeClr val="tx1"/>
                </a:solidFill>
                <a:latin typeface="Calibri"/>
              </a:defRPr>
            </a:pPr>
            <a:r>
              <a:t>• Deploy the model using FastAPI, Streamlit, or a cloud platform for real-time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1025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Sales Forecasting Using Gradient-Boosted Trees with Grid-Search Hyperparameter Tuning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Hamsini Vanam</cp:lastModifiedBy>
  <cp:revision>20</cp:revision>
  <dcterms:created xsi:type="dcterms:W3CDTF">2024-08-29T05:25:00Z</dcterms:created>
  <dcterms:modified xsi:type="dcterms:W3CDTF">2026-09-24T05:33:52Z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